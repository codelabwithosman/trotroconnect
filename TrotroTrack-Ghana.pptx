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58" r:id="rId5"/>
    <p:sldId id="259" r:id="rId6"/>
    <p:sldId id="260" r:id="rId7"/>
    <p:sldId id="261" r:id="rId8"/>
    <p:sldId id="262" r:id="rId9"/>
    <p:sldId id="268" r:id="rId10"/>
    <p:sldId id="269" r:id="rId11"/>
    <p:sldId id="270" r:id="rId12"/>
    <p:sldId id="271" r:id="rId13"/>
    <p:sldId id="264" r:id="rId14"/>
  </p:sldIdLst>
  <p:sldSz cx="14630400" cy="8229600"/>
  <p:notesSz cx="8229600" cy="14630400"/>
  <p:embeddedFontLst>
    <p:embeddedFont>
      <p:font typeface="Arimo" panose="020B0604020202020204" charset="0"/>
      <p:regular r:id="rId16"/>
    </p:embeddedFont>
    <p:embeddedFont>
      <p:font typeface="Syne Bold" panose="020B0604020202020204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2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71B3-E6C0-E13D-0892-3102942C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7BD5D-4B6A-76AA-67CE-D21F452E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7BE70-FB18-51B9-FE4D-84B28BF69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324EC-755B-05BC-A608-DBB1ED6B0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5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1EFB-BBAC-1D9A-A191-6BA80448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44C31-6CB9-0700-8D25-D677EDCBD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D3725-458F-18BC-4380-B872BDAF4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1F294-BC8B-4D9A-5580-10E569DF5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79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D92A-272F-59C0-11A0-A75025531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BC70D-8667-712F-7020-15B39BE71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A7640-B60D-029E-EC6B-3260C998A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5AD8-A439-A6B6-38ED-9FD1A6C14D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70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87AA-A9FE-FD33-D7A3-8FC6A5DB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06A22-CBEE-014C-2152-F3501E47D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A12AE-C1E7-D37B-8B58-D1D04A9A4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4A1D-D1B4-4654-0A6C-489CF0350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70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64BD-76C6-91D4-B313-E199BAC6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CFFF4-B511-B62E-662E-DDA4DE7E7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63BCC-6192-844F-D5EE-1A35556C0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B5D8A-EDB5-C2FD-157C-A64136AF4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73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C586-0D78-F5F2-252A-2D725567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5EBE8-FF47-78DF-BCC9-854B49D8E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23F96-33F5-BBD9-DC9F-7E771AB80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CAC3-29EB-C62A-979E-BA366A4DB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80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391733"/>
            <a:ext cx="58310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TrotroTrack Ghana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547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Public Transport for Millions of Daily Commuters</a:t>
            </a:r>
            <a:endParaRPr lang="en-US" sz="1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39E820-5499-7D0F-F195-626047AF1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770" y="698183"/>
            <a:ext cx="2231707" cy="2231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948E-AF2F-3FD9-60FB-E0BDDA79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81E44E-A45A-66C5-875C-2CF3FB18AC42}"/>
              </a:ext>
            </a:extLst>
          </p:cNvPr>
          <p:cNvSpPr/>
          <p:nvPr/>
        </p:nvSpPr>
        <p:spPr>
          <a:xfrm>
            <a:off x="837724" y="633192"/>
            <a:ext cx="59994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Vision &amp; Mission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4E9DF0-3D90-0B87-AC56-C8E293E0E505}"/>
              </a:ext>
            </a:extLst>
          </p:cNvPr>
          <p:cNvSpPr/>
          <p:nvPr/>
        </p:nvSpPr>
        <p:spPr>
          <a:xfrm>
            <a:off x="1002389" y="1678476"/>
            <a:ext cx="503716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VISION</a:t>
            </a:r>
          </a:p>
          <a:p>
            <a:pPr algn="l" latinLnBrk="0">
              <a:buNone/>
            </a:pPr>
            <a:r>
              <a:rPr lang="en-US" sz="2000" b="0" i="0" dirty="0">
                <a:solidFill>
                  <a:srgbClr val="F0F6FC"/>
                </a:solidFill>
                <a:effectLst/>
                <a:latin typeface="Monaspace Neon"/>
              </a:rPr>
              <a:t>"Making every commute in Africa predictable, </a:t>
            </a:r>
          </a:p>
          <a:p>
            <a:pPr algn="l">
              <a:buNone/>
            </a:pPr>
            <a:r>
              <a:rPr lang="en-US" sz="2000" b="0" i="0" dirty="0">
                <a:solidFill>
                  <a:srgbClr val="F0F6FC"/>
                </a:solidFill>
                <a:effectLst/>
                <a:latin typeface="Monaspace Neon"/>
              </a:rPr>
              <a:t>efficient, and respectful of people's time."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C5F81-C3B8-3C33-4780-58FFB8A352C6}"/>
              </a:ext>
            </a:extLst>
          </p:cNvPr>
          <p:cNvSpPr txBox="1"/>
          <p:nvPr/>
        </p:nvSpPr>
        <p:spPr>
          <a:xfrm>
            <a:off x="921782" y="2851104"/>
            <a:ext cx="5253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MISSION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"Transform Ghana's ₵6.4 billion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trotro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network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through real-time tracking, automated capacity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updates, and fare transparency—empowering </a:t>
            </a:r>
          </a:p>
          <a:p>
            <a:pPr algn="l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passengers and drivers with actionable intelligence."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F7377-9981-5BFF-FB17-75EEF2FB2576}"/>
              </a:ext>
            </a:extLst>
          </p:cNvPr>
          <p:cNvSpPr txBox="1"/>
          <p:nvPr/>
        </p:nvSpPr>
        <p:spPr>
          <a:xfrm>
            <a:off x="9592730" y="1877957"/>
            <a:ext cx="471875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3200" b="1" i="0" dirty="0">
                <a:solidFill>
                  <a:srgbClr val="F0F6FC"/>
                </a:solidFill>
                <a:effectLst/>
                <a:latin typeface="Monaspace Neon"/>
              </a:rPr>
              <a:t>OUR CORE VALUES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 LOCAL FIRST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Built by Ghanaians, for Ghanaians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 SIMPLICITY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Technology that works for everyone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, 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from students to market women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 DRIVER PARTNERSHIP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Empowering existing transport,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not disrupting it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 TRANSPARENCY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GPRTU-verified pricing,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real-time data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1" i="0" dirty="0">
                <a:solidFill>
                  <a:srgbClr val="F0F6FC"/>
                </a:solidFill>
                <a:effectLst/>
                <a:latin typeface="Monaspace Neon"/>
              </a:rPr>
              <a:t> PAN-AFRICAN AMBITION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Starting in Accra,</a:t>
            </a:r>
          </a:p>
          <a:p>
            <a:pPr algn="l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scaling across the continent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2948B-DD42-EE3D-51FA-84E1625B26CC}"/>
              </a:ext>
            </a:extLst>
          </p:cNvPr>
          <p:cNvSpPr txBox="1"/>
          <p:nvPr/>
        </p:nvSpPr>
        <p:spPr>
          <a:xfrm>
            <a:off x="921782" y="7596408"/>
            <a:ext cx="7385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"3.5 million people deserve to know when their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trotro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is coming."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CB41F0-283A-F0F0-3C9D-E16F3A24D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63" y="4520359"/>
            <a:ext cx="4945619" cy="26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2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9CB5-BA87-972C-F4FF-73C4F2E6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0E1C4D-84E3-D59B-543E-B7FE9D09D7A7}"/>
              </a:ext>
            </a:extLst>
          </p:cNvPr>
          <p:cNvSpPr/>
          <p:nvPr/>
        </p:nvSpPr>
        <p:spPr>
          <a:xfrm>
            <a:off x="936274" y="448135"/>
            <a:ext cx="41805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61495-25C2-07F8-0F9F-15099144C9CE}"/>
              </a:ext>
            </a:extLst>
          </p:cNvPr>
          <p:cNvSpPr txBox="1"/>
          <p:nvPr/>
        </p:nvSpPr>
        <p:spPr>
          <a:xfrm>
            <a:off x="657820" y="2303812"/>
            <a:ext cx="571032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THE PAINFUL REALITY OF GHANA'S TRANSPORT SYSTEM: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3.5M DAILY TROTRO TRIPS in Greater Accra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Source: MIT Atlas of Popular Transport, GUMAP 2024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❌ ZERO real-time tracking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❌ NO capacity information before arrival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❌ NO fare transparency (disputes common)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❌ 20-45 MINUTE average wait times with no ETA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70% of urban commuters depend on this system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0% have any visibility into arrival times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6F8AB84-8882-89FD-EFDF-449758CAA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828430"/>
              </p:ext>
            </p:extLst>
          </p:nvPr>
        </p:nvGraphicFramePr>
        <p:xfrm>
          <a:off x="6553199" y="2685141"/>
          <a:ext cx="6966858" cy="324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429">
                  <a:extLst>
                    <a:ext uri="{9D8B030D-6E8A-4147-A177-3AD203B41FA5}">
                      <a16:colId xmlns:a16="http://schemas.microsoft.com/office/drawing/2014/main" val="2043424823"/>
                    </a:ext>
                  </a:extLst>
                </a:gridCol>
                <a:gridCol w="3483429">
                  <a:extLst>
                    <a:ext uri="{9D8B030D-6E8A-4147-A177-3AD203B41FA5}">
                      <a16:colId xmlns:a16="http://schemas.microsoft.com/office/drawing/2014/main" val="101275418"/>
                    </a:ext>
                  </a:extLst>
                </a:gridCol>
              </a:tblGrid>
              <a:tr h="1690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PASSENGERS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DRIVERS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7705036"/>
                  </a:ext>
                </a:extLst>
              </a:tr>
              <a:tr h="1690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2-3 hours wasted daily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₵900/month wasted fuel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086996"/>
                  </a:ext>
                </a:extLst>
              </a:tr>
              <a:tr h="169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Stress &amp; uncertainty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Inefficient routing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709114"/>
                  </a:ext>
                </a:extLst>
              </a:tr>
              <a:tr h="679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Students miss classes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Lost revenue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2002813"/>
                  </a:ext>
                </a:extLst>
              </a:tr>
              <a:tr h="169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Workers late to jobs 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Monaspace Neon"/>
                          <a:ea typeface="+mn-ea"/>
                          <a:cs typeface="+mn-cs"/>
                        </a:rPr>
                        <a:t>Long work days</a:t>
                      </a:r>
                    </a:p>
                    <a:p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Monaspace Neon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008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35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4951" y="462307"/>
            <a:ext cx="526916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F0F6FC"/>
                </a:solidFill>
                <a:effectLst/>
                <a:latin typeface="-apple-system"/>
              </a:rPr>
              <a:t>OUR SOLUTION</a:t>
            </a:r>
          </a:p>
        </p:txBody>
      </p:sp>
      <p:sp>
        <p:nvSpPr>
          <p:cNvPr id="4" name="Shape 1"/>
          <p:cNvSpPr/>
          <p:nvPr/>
        </p:nvSpPr>
        <p:spPr>
          <a:xfrm>
            <a:off x="347866" y="2155550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7181" y="2394866"/>
            <a:ext cx="30106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Tracking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87181" y="2890404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See exactly where your trotro is and when it will arrive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347866" y="4170555"/>
            <a:ext cx="3614618" cy="1740218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1290" y="42454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Fair Pricing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1290" y="4740975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Pay only for the distance you travel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299061" y="6185561"/>
            <a:ext cx="5111499" cy="1357193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8376" y="6424877"/>
            <a:ext cx="316685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Maximized Efficiency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38376" y="6920415"/>
            <a:ext cx="471416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Drivers fill empty seats and maximize revenue</a:t>
            </a:r>
            <a:endParaRPr lang="en-US" sz="1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EE2ABF-A6F3-82B6-1FE4-184BC9C68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7" b="99320" l="514" r="99794">
                        <a14:foregroundMark x1="1337" y1="2632" x2="1439" y2="91043"/>
                        <a14:foregroundMark x1="1439" y1="91043" x2="2380" y2="95516"/>
                        <a14:foregroundMark x1="3281" y1="97392" x2="9147" y2="97392"/>
                        <a14:foregroundMark x1="9147" y1="97392" x2="10380" y2="95692"/>
                        <a14:foregroundMark x1="24872" y1="14966" x2="24872" y2="93878"/>
                        <a14:foregroundMark x1="2261" y1="3741" x2="36485" y2="96145"/>
                        <a14:foregroundMark x1="36485" y1="96145" x2="44578" y2="66075"/>
                        <a14:foregroundMark x1="44550" y1="45505" x2="44296" y2="45351"/>
                        <a14:foregroundMark x1="58993" y1="12925" x2="58479" y2="89229"/>
                        <a14:foregroundMark x1="58479" y1="89229" x2="84378" y2="70975"/>
                        <a14:foregroundMark x1="84378" y1="70975" x2="93628" y2="45125"/>
                        <a14:foregroundMark x1="93628" y1="45125" x2="89003" y2="30952"/>
                        <a14:foregroundMark x1="89003" y1="30952" x2="57760" y2="13719"/>
                        <a14:foregroundMark x1="55190" y1="3855" x2="73073" y2="5329"/>
                        <a14:foregroundMark x1="73073" y1="5329" x2="82425" y2="9637"/>
                        <a14:foregroundMark x1="82425" y1="9637" x2="89003" y2="19388"/>
                        <a14:foregroundMark x1="89003" y1="19388" x2="94039" y2="54989"/>
                        <a14:foregroundMark x1="94039" y1="54989" x2="93525" y2="95692"/>
                        <a14:foregroundMark x1="93525" y1="95692" x2="86331" y2="98639"/>
                        <a14:foregroundMark x1="45623" y1="91382" x2="42446" y2="90816"/>
                        <a14:foregroundMark x1="86331" y1="98639" x2="53820" y2="92843"/>
                        <a14:foregroundMark x1="42446" y1="90816" x2="37513" y2="82426"/>
                        <a14:foregroundMark x1="53890" y1="61399" x2="74512" y2="34921"/>
                        <a14:foregroundMark x1="37513" y1="82426" x2="46117" y2="71380"/>
                        <a14:foregroundMark x1="44578" y1="25521" x2="32991" y2="21882"/>
                        <a14:foregroundMark x1="46839" y1="26231" x2="44906" y2="25624"/>
                        <a14:foregroundMark x1="74512" y1="34921" x2="53778" y2="28410"/>
                        <a14:foregroundMark x1="32991" y1="21882" x2="46006" y2="10037"/>
                        <a14:foregroundMark x1="54400" y1="6399" x2="67934" y2="4989"/>
                        <a14:foregroundMark x1="67934" y1="4989" x2="92703" y2="9751"/>
                        <a14:foregroundMark x1="92703" y1="9751" x2="92703" y2="9977"/>
                        <a14:foregroundMark x1="90750" y1="2041" x2="54033" y2="65790"/>
                        <a14:foregroundMark x1="51985" y1="78123" x2="68243" y2="88662"/>
                        <a14:foregroundMark x1="68243" y1="88662" x2="94450" y2="62812"/>
                        <a14:foregroundMark x1="94450" y1="62812" x2="93217" y2="33220"/>
                        <a14:foregroundMark x1="93217" y1="33220" x2="84378" y2="19274"/>
                        <a14:foregroundMark x1="84378" y1="19274" x2="76876" y2="14512"/>
                        <a14:foregroundMark x1="52825" y1="6689" x2="56937" y2="8957"/>
                        <a14:foregroundMark x1="43782" y1="1701" x2="46428" y2="3160"/>
                        <a14:foregroundMark x1="56937" y1="8957" x2="62282" y2="17234"/>
                        <a14:foregroundMark x1="62282" y1="17234" x2="62487" y2="18594"/>
                        <a14:foregroundMark x1="46033" y1="37188" x2="41624" y2="41383"/>
                        <a14:foregroundMark x1="74512" y1="10091" x2="53778" y2="29819"/>
                        <a14:foregroundMark x1="41624" y1="41383" x2="41418" y2="41723"/>
                        <a14:foregroundMark x1="44578" y1="23362" x2="31346" y2="30499"/>
                        <a14:foregroundMark x1="68345" y1="10544" x2="51738" y2="19501"/>
                        <a14:foregroundMark x1="44578" y1="19138" x2="36896" y2="22562"/>
                        <a14:foregroundMark x1="66906" y1="9184" x2="53925" y2="14970"/>
                        <a14:foregroundMark x1="36896" y1="22562" x2="31346" y2="23923"/>
                        <a14:foregroundMark x1="63001" y1="9184" x2="54125" y2="13101"/>
                        <a14:foregroundMark x1="15108" y1="3401" x2="31038" y2="2608"/>
                        <a14:foregroundMark x1="90956" y1="6009" x2="54716" y2="4306"/>
                        <a14:foregroundMark x1="93525" y1="3061" x2="64440" y2="2834"/>
                        <a14:foregroundMark x1="97020" y1="680" x2="95786" y2="34807"/>
                        <a14:foregroundMark x1="95786" y1="34807" x2="95992" y2="36961"/>
                        <a14:foregroundMark x1="925" y1="21769" x2="719" y2="95011"/>
                        <a14:foregroundMark x1="2758" y1="96304" x2="5550" y2="98073"/>
                        <a14:foregroundMark x1="719" y1="95011" x2="1211" y2="95323"/>
                        <a14:foregroundMark x1="5550" y1="98073" x2="16547" y2="99320"/>
                        <a14:foregroundMark x1="46240" y1="70548" x2="41007" y2="95011"/>
                        <a14:foregroundMark x1="41007" y1="95011" x2="36177" y2="98526"/>
                        <a14:foregroundMark x1="36177" y1="98526" x2="17472" y2="98639"/>
                        <a14:foregroundMark x1="45689" y1="94595" x2="40699" y2="98866"/>
                        <a14:foregroundMark x1="40699" y1="98866" x2="39157" y2="98866"/>
                        <a14:foregroundMark x1="63515" y1="84921" x2="71942" y2="89229"/>
                        <a14:foregroundMark x1="71942" y1="89229" x2="82939" y2="88776"/>
                        <a14:foregroundMark x1="82939" y1="88776" x2="90853" y2="89683"/>
                        <a14:foregroundMark x1="90853" y1="89683" x2="95375" y2="93764"/>
                        <a14:foregroundMark x1="95375" y1="93764" x2="96095" y2="93084"/>
                        <a14:foregroundMark x1="98561" y1="567" x2="98253" y2="32993"/>
                        <a14:foregroundMark x1="99281" y1="9410" x2="99281" y2="33447"/>
                        <a14:foregroundMark x1="99281" y1="33447" x2="99178" y2="34127"/>
                        <a14:foregroundMark x1="98869" y1="33220" x2="97945" y2="46712"/>
                        <a14:foregroundMark x1="97945" y1="46712" x2="99589" y2="47732"/>
                        <a14:foregroundMark x1="78109" y1="32086" x2="88386" y2="40476"/>
                        <a14:foregroundMark x1="88386" y1="40476" x2="81398" y2="33107"/>
                        <a14:foregroundMark x1="81398" y1="33107" x2="82323" y2="30952"/>
                        <a14:foregroundMark x1="99486" y1="47052" x2="98561" y2="53628"/>
                        <a14:foregroundMark x1="99178" y1="51814" x2="99589" y2="59410"/>
                        <a14:foregroundMark x1="99589" y1="59410" x2="99589" y2="59410"/>
                        <a14:foregroundMark x1="99486" y1="57937" x2="99486" y2="62585"/>
                        <a14:foregroundMark x1="98767" y1="60658" x2="98356" y2="66440"/>
                        <a14:foregroundMark x1="98356" y1="63492" x2="98767" y2="69615"/>
                        <a14:foregroundMark x1="99589" y1="64512" x2="99589" y2="76077"/>
                        <a14:foregroundMark x1="99589" y1="76077" x2="98869" y2="76190"/>
                        <a14:foregroundMark x1="98664" y1="70975" x2="98869" y2="83787"/>
                        <a14:foregroundMark x1="81295" y1="98980" x2="67626" y2="97619"/>
                        <a14:foregroundMark x1="514" y1="94444" x2="5653" y2="97846"/>
                        <a14:foregroundMark x1="5653" y1="97846" x2="7297" y2="98186"/>
                        <a14:foregroundMark x1="43063" y1="1134" x2="45838" y2="7823"/>
                        <a14:foregroundMark x1="44578" y1="15467" x2="44399" y2="16553"/>
                        <a14:foregroundMark x1="45838" y1="7823" x2="44698" y2="14739"/>
                        <a14:foregroundMark x1="44707" y1="26077" x2="44399" y2="35601"/>
                        <a14:foregroundMark x1="45632" y1="28912" x2="46146" y2="42290"/>
                        <a14:foregroundMark x1="46146" y1="42290" x2="45529" y2="44444"/>
                        <a14:foregroundMark x1="45015" y1="44898" x2="45015" y2="52154"/>
                        <a14:foregroundMark x1="45324" y1="52154" x2="45529" y2="70748"/>
                        <a14:foregroundMark x1="45015" y1="76190" x2="45118" y2="91043"/>
                        <a14:foregroundMark x1="53854" y1="794" x2="52518" y2="6009"/>
                        <a14:foregroundMark x1="53135" y1="3741" x2="53135" y2="7256"/>
                        <a14:foregroundMark x1="99589" y1="34921" x2="99794" y2="46825"/>
                        <a14:foregroundMark x1="99383" y1="82766" x2="99281" y2="97506"/>
                        <a14:foregroundMark x1="99281" y1="97506" x2="96917" y2="98753"/>
                        <a14:foregroundMark x1="45015" y1="13039" x2="45324" y2="23583"/>
                        <a14:backgroundMark x1="719" y1="907" x2="719" y2="907"/>
                        <a14:backgroundMark x1="719" y1="680" x2="0" y2="1361"/>
                        <a14:backgroundMark x1="800" y1="97371" x2="1953" y2="99773"/>
                        <a14:backgroundMark x1="50565" y1="6689" x2="50565" y2="6689"/>
                        <a14:backgroundMark x1="50360" y1="6689" x2="50257" y2="11338"/>
                        <a14:backgroundMark x1="49538" y1="8050" x2="49024" y2="23696"/>
                        <a14:backgroundMark x1="49024" y1="17007" x2="49024" y2="98753"/>
                        <a14:backgroundMark x1="49024" y1="98753" x2="49846" y2="97959"/>
                        <a14:backgroundMark x1="48613" y1="794" x2="48613" y2="8503"/>
                        <a14:backgroundMark x1="53135" y1="113" x2="53068" y2="555"/>
                        <a14:backgroundMark x1="52004" y1="12358" x2="51593" y2="16213"/>
                        <a14:backgroundMark x1="51593" y1="19501" x2="51593" y2="19501"/>
                        <a14:backgroundMark x1="51593" y1="19501" x2="51593" y2="19955"/>
                        <a14:backgroundMark x1="51593" y1="23923" x2="51593" y2="32993"/>
                        <a14:backgroundMark x1="51490" y1="54875" x2="52004" y2="70635"/>
                        <a14:backgroundMark x1="46763" y1="70732" x2="46763" y2="71202"/>
                        <a14:backgroundMark x1="47709" y1="70228" x2="48304" y2="69615"/>
                        <a14:backgroundMark x1="46763" y1="71202" x2="47226" y2="70726"/>
                        <a14:backgroundMark x1="48304" y1="71655" x2="47482" y2="72562"/>
                        <a14:backgroundMark x1="52004" y1="67914" x2="52004" y2="70295"/>
                        <a14:backgroundMark x1="47585" y1="72562" x2="47893" y2="72789"/>
                        <a14:backgroundMark x1="50668" y1="76077" x2="51799" y2="78231"/>
                        <a14:backgroundMark x1="47293" y1="89544" x2="49640" y2="92517"/>
                        <a14:backgroundMark x1="50976" y1="90930" x2="51387" y2="92177"/>
                        <a14:backgroundMark x1="47482" y1="89342" x2="48201" y2="93311"/>
                        <a14:backgroundMark x1="50257" y1="89002" x2="51799" y2="93764"/>
                        <a14:backgroundMark x1="46763" y1="93084" x2="46660" y2="94671"/>
                        <a14:backgroundMark x1="48099" y1="74036" x2="48818" y2="76757"/>
                        <a14:backgroundMark x1="46763" y1="23531" x2="46763" y2="256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768" y="64167"/>
            <a:ext cx="8914632" cy="8080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861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Product Features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491383"/>
            <a:ext cx="4118848" cy="25455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276255"/>
            <a:ext cx="346733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Live Location Tracking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771793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GPS-enabled tracking shows real-time trotro positions and accurate arrival predictions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776" y="2491383"/>
            <a:ext cx="4118848" cy="25455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5276255"/>
            <a:ext cx="363485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Distance-Based Pricing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5771793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Automatic fare calculation reflects actual kilometers traveled and current fuel prices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828" y="2491383"/>
            <a:ext cx="4118848" cy="25455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52762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 Matching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5771793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Connects drivers with waiting passengers to reduce empty seats and idle time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689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It Works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51748"/>
            <a:ext cx="1196816" cy="1436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73856" y="2791063"/>
            <a:ext cx="421838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Drivers Share GPS Location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73856" y="3286601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Trotro drivers enable GPS tracking through a simple mobile app, broadcasting their location in real-time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987998"/>
            <a:ext cx="1196816" cy="14362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3856" y="4227314"/>
            <a:ext cx="48865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Passengers Find Nearby Trotros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73856" y="4722852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Users check the app to see available trotros, wait times, and exact fares before heading to stations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5424249"/>
            <a:ext cx="1196816" cy="14362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3856" y="5663565"/>
            <a:ext cx="51401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Smart Routing &amp; Fare Calculation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73856" y="6159103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 calculates optimal routes and fair fares based on distance, fuel costs, and GPRTU-approved rates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1533"/>
            <a:ext cx="686562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Impact on Passengers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70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4445" y="3411022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4170998"/>
            <a:ext cx="312991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Eliminate Wait Time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66653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 departure around actual arrival times instead of endless waiting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7508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2495" y="3411022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Pay Fair Prices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466653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Distance-based fares replace arbitrary flat rates with transparent pricing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974300"/>
            <a:ext cx="4158853" cy="3463647"/>
          </a:xfrm>
          <a:prstGeom prst="roundRect">
            <a:avLst>
              <a:gd name="adj" fmla="val 1037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31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0544" y="3411022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4170998"/>
            <a:ext cx="303645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Reliable Scheduling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4666536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Confidently schedule appointments and commitments based on accurate transit information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929175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Impact on Drivers &amp; Operators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5440" y="3740229"/>
            <a:ext cx="6530102" cy="1812012"/>
          </a:xfrm>
          <a:prstGeom prst="roundRect">
            <a:avLst>
              <a:gd name="adj" fmla="val 198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04756" y="3979545"/>
            <a:ext cx="295632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Maximize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04756" y="4570809"/>
            <a:ext cx="605147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Fill empty seats efficiently and optimize routes to maximize daily earnings from every run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979545"/>
            <a:ext cx="386453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Governance &amp; Standards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4761" y="457080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GPRTU gains oversight and data for better route planning, compliance monitoring, and policy decisions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4D96-CD55-823E-D875-08AC4026B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786C77-2033-0579-ABE6-CB16E940DCBB}"/>
              </a:ext>
            </a:extLst>
          </p:cNvPr>
          <p:cNvSpPr/>
          <p:nvPr/>
        </p:nvSpPr>
        <p:spPr>
          <a:xfrm>
            <a:off x="5078254" y="697928"/>
            <a:ext cx="33799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400" b="1" i="0" dirty="0">
                <a:solidFill>
                  <a:srgbClr val="F0F6FC"/>
                </a:solidFill>
                <a:effectLst/>
                <a:latin typeface="-apple-system"/>
              </a:rPr>
              <a:t>MARKET SIZE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A8CF2-6A0C-AC9F-7EC5-1510E395E7F9}"/>
              </a:ext>
            </a:extLst>
          </p:cNvPr>
          <p:cNvSpPr txBox="1"/>
          <p:nvPr/>
        </p:nvSpPr>
        <p:spPr>
          <a:xfrm>
            <a:off x="322830" y="2651654"/>
            <a:ext cx="43553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2400" b="1" i="0" dirty="0">
                <a:solidFill>
                  <a:srgbClr val="F0F6FC"/>
                </a:solidFill>
                <a:effectLst/>
                <a:latin typeface="Monaspace Neon"/>
              </a:rPr>
              <a:t>TAM - TOTAL ADDRESSABLE MARKET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Greater Accra Region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 3.5M daily trips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Source: MIT Atlas of Popular Transport,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GUMAP Project 2024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₵5.00 average fare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Source: GPRTU Official Fares, May 2025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 ANNUAL MARKET:  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₵6.4 BILLION (~$425M USD)        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279C8-641F-C96F-CA4B-2D36D607AE26}"/>
              </a:ext>
            </a:extLst>
          </p:cNvPr>
          <p:cNvSpPr txBox="1"/>
          <p:nvPr/>
        </p:nvSpPr>
        <p:spPr>
          <a:xfrm>
            <a:off x="4678205" y="2651654"/>
            <a:ext cx="437435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2400" b="1" i="0" dirty="0">
                <a:solidFill>
                  <a:srgbClr val="F0F6FC"/>
                </a:solidFill>
                <a:effectLst/>
                <a:latin typeface="Monaspace Neon"/>
              </a:rPr>
              <a:t>SAM - SERVICEABLE AVAILABLE MARKET</a:t>
            </a:r>
          </a:p>
          <a:p>
            <a:pPr algn="l" latinLnBrk="0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 Focus: Main corridors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(40% of total trips)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Smartphone penetration in Accra: 65%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Source: GSMA Mobile Economy SSA 2024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Digital-ready market segment: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₵1.6 BILLION/year                      </a:t>
            </a:r>
          </a:p>
          <a:p>
            <a:pPr algn="l">
              <a:buNone/>
            </a:pP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29826C-AA02-379E-E7D7-A7B1138A0764}"/>
              </a:ext>
            </a:extLst>
          </p:cNvPr>
          <p:cNvSpPr txBox="1"/>
          <p:nvPr/>
        </p:nvSpPr>
        <p:spPr>
          <a:xfrm>
            <a:off x="9326880" y="2739834"/>
            <a:ext cx="51892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sz="2400" b="1" i="0" dirty="0">
                <a:solidFill>
                  <a:srgbClr val="F0F6FC"/>
                </a:solidFill>
                <a:effectLst/>
                <a:latin typeface="Monaspace Neon"/>
              </a:rPr>
              <a:t>SOM - YEAR 1 TARGET (CONSERVATIVE)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50,000 daily active users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(1.4% of daily passengers)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 500 active drivers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(Estimated 5% of Accra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trotro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drivers)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                                        </a:t>
            </a:r>
          </a:p>
          <a:p>
            <a:pPr algn="l" latinLnBrk="0">
              <a:buNone/>
            </a:pPr>
            <a:r>
              <a:rPr lang="en-US" sz="2000" b="1" i="0" dirty="0">
                <a:solidFill>
                  <a:srgbClr val="F0F6FC"/>
                </a:solidFill>
                <a:effectLst/>
                <a:latin typeface="Monaspace Neon"/>
              </a:rPr>
              <a:t>  REVENUE POTENTIAL: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₵420,000 Year 1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₵3.2M Year 2                           </a:t>
            </a:r>
          </a:p>
          <a:p>
            <a:pPr algn="l" latinLnBrk="0">
              <a:buNone/>
            </a:pP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   ₵8.5M Year 3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0356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1EC4-553D-64F2-E3BD-7816D532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CB359E-29FB-95AC-BA9C-AC72C764E61E}"/>
              </a:ext>
            </a:extLst>
          </p:cNvPr>
          <p:cNvSpPr/>
          <p:nvPr/>
        </p:nvSpPr>
        <p:spPr>
          <a:xfrm>
            <a:off x="5078254" y="697928"/>
            <a:ext cx="33799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400" b="1" i="0" dirty="0">
                <a:solidFill>
                  <a:srgbClr val="F0F6FC"/>
                </a:solidFill>
                <a:effectLst/>
                <a:latin typeface="-apple-system"/>
              </a:rPr>
              <a:t>BUSINESS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F4E4D-0513-CA0F-174D-C147D3EE981D}"/>
              </a:ext>
            </a:extLst>
          </p:cNvPr>
          <p:cNvSpPr txBox="1"/>
          <p:nvPr/>
        </p:nvSpPr>
        <p:spPr>
          <a:xfrm>
            <a:off x="457200" y="1867197"/>
            <a:ext cx="55435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0F6FC"/>
                </a:solidFill>
                <a:latin typeface="Monaspace Neon"/>
              </a:rPr>
              <a:t>DRIVER SUBSCRIPTIONS (Main Revenue)</a:t>
            </a:r>
          </a:p>
          <a:p>
            <a:pPr>
              <a:buNone/>
            </a:pPr>
            <a:endParaRPr lang="en-US" sz="2400" b="1" dirty="0">
              <a:solidFill>
                <a:srgbClr val="F0F6FC"/>
              </a:solidFill>
              <a:latin typeface="Monaspace Ne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Price: ₵50/month per 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Why drivers will pay: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They currently waste ₵900/month driving around looking for passengers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Your app helps them find passengers faster → saves ₵200+/month on fuel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Return on Investment: They pay ₵50, save ₵200 = 4x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Revenue Growth: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Year 1: 500 drivers × ₵50 = ₵300,000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Year 2: 2,500 drivers × ₵50 = ₵1.5M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Year 3: 5,000 drivers × ₵50 = ₵3M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0ED31-6726-B408-538D-A8BE088ECE04}"/>
              </a:ext>
            </a:extLst>
          </p:cNvPr>
          <p:cNvSpPr txBox="1"/>
          <p:nvPr/>
        </p:nvSpPr>
        <p:spPr>
          <a:xfrm>
            <a:off x="6583680" y="1867197"/>
            <a:ext cx="73152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0F6FC"/>
                </a:solidFill>
                <a:latin typeface="Monaspace Neon"/>
              </a:rPr>
              <a:t>ADVERTISING (Starts Year 2)</a:t>
            </a:r>
          </a:p>
          <a:p>
            <a:pPr>
              <a:buNone/>
            </a:pPr>
            <a:endParaRPr lang="en-US" sz="2000" b="1" dirty="0">
              <a:solidFill>
                <a:srgbClr val="F0F6FC"/>
              </a:solidFill>
              <a:latin typeface="Monaspace Ne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Who pays: Big companies wanting to reach your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Potential advertisers: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Telecom: MTN, Vodafone (already targeting commuters)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Retail: Shoprite, </a:t>
            </a:r>
            <a:r>
              <a:rPr lang="en-US" dirty="0" err="1">
                <a:solidFill>
                  <a:srgbClr val="F0F6FC"/>
                </a:solidFill>
                <a:latin typeface="Monaspace Neon"/>
              </a:rPr>
              <a:t>Melcom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 (stores near </a:t>
            </a:r>
            <a:r>
              <a:rPr lang="en-US" dirty="0" err="1">
                <a:solidFill>
                  <a:srgbClr val="F0F6FC"/>
                </a:solidFill>
                <a:latin typeface="Monaspace Neon"/>
              </a:rPr>
              <a:t>trotro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 routes)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FMCG: Coca-Cola, Unilever (everyday products)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Mobile Money: Payment providers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0F6FC"/>
              </a:solidFill>
              <a:latin typeface="Monaspace Ne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How it works: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Banner ads in the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Sponsored stations ("This station powered by MTN")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Special promotions shown to passengers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0F6FC"/>
              </a:solidFill>
              <a:latin typeface="Monaspace Ne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Revenue Growth: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Year 2: ₵800,000 (when we have 50K users)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Year 3: ₵2M (when we have 150K users)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0F6FC"/>
              </a:solidFill>
              <a:latin typeface="Monaspace Ne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Proof it works: </a:t>
            </a:r>
            <a:r>
              <a:rPr lang="en-US" dirty="0" err="1">
                <a:solidFill>
                  <a:srgbClr val="F0F6FC"/>
                </a:solidFill>
                <a:latin typeface="Monaspace Neon"/>
              </a:rPr>
              <a:t>SafeBoda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 (similar app in Uganda) makes $40,000/month from ads</a:t>
            </a:r>
          </a:p>
        </p:txBody>
      </p:sp>
    </p:spTree>
    <p:extLst>
      <p:ext uri="{BB962C8B-B14F-4D97-AF65-F5344CB8AC3E}">
        <p14:creationId xmlns:p14="http://schemas.microsoft.com/office/powerpoint/2010/main" val="2819379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B876-CD75-5F1A-66CC-73D6D367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B0A627-758B-4C9A-9748-A811E06CE01D}"/>
              </a:ext>
            </a:extLst>
          </p:cNvPr>
          <p:cNvSpPr/>
          <p:nvPr/>
        </p:nvSpPr>
        <p:spPr>
          <a:xfrm>
            <a:off x="5078254" y="697928"/>
            <a:ext cx="33799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400" b="1" i="0" dirty="0">
                <a:solidFill>
                  <a:srgbClr val="F0F6FC"/>
                </a:solidFill>
                <a:effectLst/>
                <a:latin typeface="-apple-system"/>
              </a:rPr>
              <a:t>BUSINESS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C3B59-CA37-32C6-B2A9-A46476A2D65F}"/>
              </a:ext>
            </a:extLst>
          </p:cNvPr>
          <p:cNvSpPr txBox="1"/>
          <p:nvPr/>
        </p:nvSpPr>
        <p:spPr>
          <a:xfrm>
            <a:off x="457200" y="1867197"/>
            <a:ext cx="554355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0F6FC"/>
                </a:solidFill>
                <a:latin typeface="Monaspace Neon"/>
              </a:rPr>
              <a:t>PREMIUM FEATURES (Starts Year 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Who pays: Big companies with employees who commute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What they get: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Reserved seats for their 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Trip planning across multiple routes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Digital receipts for expense claims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Fleet tracking for company buses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Revenue: ₵500,000+ in Year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99749-5915-7680-CCAC-D706F3648520}"/>
              </a:ext>
            </a:extLst>
          </p:cNvPr>
          <p:cNvSpPr txBox="1"/>
          <p:nvPr/>
        </p:nvSpPr>
        <p:spPr>
          <a:xfrm>
            <a:off x="6768227" y="1981497"/>
            <a:ext cx="73152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0F6FC"/>
                </a:solidFill>
                <a:latin typeface="Monaspace Neon"/>
              </a:rPr>
              <a:t>WHY THIS MODEL WORKS</a:t>
            </a:r>
          </a:p>
          <a:p>
            <a:pPr>
              <a:buNone/>
            </a:pPr>
            <a:r>
              <a:rPr lang="en-US" dirty="0">
                <a:solidFill>
                  <a:srgbClr val="F0F6FC"/>
                </a:solidFill>
                <a:latin typeface="Monaspace Neon"/>
              </a:rPr>
              <a:t>✅ Passengers never pay → Easy to get lots of users ✅ Drivers gladly pay → They save 4x more than they spend ✅ GPRTU partnership → Legitimacy + guaranteed revenue ✅ Multiple revenue streams → Not dependent on just one source ✅ Profitable by Year 2 → Investors get their money back fast</a:t>
            </a:r>
          </a:p>
        </p:txBody>
      </p:sp>
    </p:spTree>
    <p:extLst>
      <p:ext uri="{BB962C8B-B14F-4D97-AF65-F5344CB8AC3E}">
        <p14:creationId xmlns:p14="http://schemas.microsoft.com/office/powerpoint/2010/main" val="78135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A614D-7029-474B-76A3-B68721C8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CFA329-D8CC-A86B-43AF-C9B3FF507238}"/>
              </a:ext>
            </a:extLst>
          </p:cNvPr>
          <p:cNvSpPr/>
          <p:nvPr/>
        </p:nvSpPr>
        <p:spPr>
          <a:xfrm>
            <a:off x="5078254" y="697928"/>
            <a:ext cx="337994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400" b="1" i="0" dirty="0">
                <a:solidFill>
                  <a:srgbClr val="F0F6FC"/>
                </a:solidFill>
                <a:effectLst/>
                <a:latin typeface="-apple-system"/>
              </a:rPr>
              <a:t>BUSINESS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CD029-4629-5429-E6E2-1C954048CD2C}"/>
              </a:ext>
            </a:extLst>
          </p:cNvPr>
          <p:cNvSpPr txBox="1"/>
          <p:nvPr/>
        </p:nvSpPr>
        <p:spPr>
          <a:xfrm>
            <a:off x="947022" y="1770026"/>
            <a:ext cx="71911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COMPETITIVE ANALYSIS MATRIX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                    Uber   Google  Current  </a:t>
            </a:r>
            <a:r>
              <a:rPr lang="en-US" dirty="0" err="1">
                <a:solidFill>
                  <a:srgbClr val="F0F6FC"/>
                </a:solidFill>
                <a:latin typeface="Monaspace Neon"/>
              </a:rPr>
              <a:t>Trotro</a:t>
            </a:r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                    /Bolt  Maps    </a:t>
            </a:r>
            <a:r>
              <a:rPr lang="en-US" dirty="0" err="1">
                <a:solidFill>
                  <a:srgbClr val="F0F6FC"/>
                </a:solidFill>
                <a:latin typeface="Monaspace Neon"/>
              </a:rPr>
              <a:t>Trotros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  Connect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────────────────────────────────────────────────────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Real-Time            ✅      ❌       ❌       ✅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Tracking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Affordable           ❌      N/A      ✅       ✅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(₵5 vs ₵40+)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 err="1">
                <a:solidFill>
                  <a:srgbClr val="F0F6FC"/>
                </a:solidFill>
                <a:latin typeface="Monaspace Neon"/>
              </a:rPr>
              <a:t>Trotro</a:t>
            </a:r>
            <a:r>
              <a:rPr lang="en-US" dirty="0">
                <a:solidFill>
                  <a:srgbClr val="F0F6FC"/>
                </a:solidFill>
                <a:latin typeface="Monaspace Neon"/>
              </a:rPr>
              <a:t> Focus         ❌      ❌       ✅       ✅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GPRTU                ❌      ❌       ✅       ✅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Partnership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Fare Accuracy        ✅      ❌       ❌       ✅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Works on             ✅      ✅       N/A      ✅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Smartphones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B6425-FEFE-5785-3BEA-E9A34A8120A9}"/>
              </a:ext>
            </a:extLst>
          </p:cNvPr>
          <p:cNvSpPr txBox="1"/>
          <p:nvPr/>
        </p:nvSpPr>
        <p:spPr>
          <a:xfrm>
            <a:off x="7566660" y="2779098"/>
            <a:ext cx="54063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0F6FC"/>
                </a:solidFill>
                <a:latin typeface="Monaspace Neon"/>
              </a:rPr>
              <a:t>NETWORK EFFECTS (Winner-Take-All Dynamics) 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b="1" dirty="0">
                <a:solidFill>
                  <a:srgbClr val="F0F6FC"/>
                </a:solidFill>
                <a:latin typeface="Monaspace Neon"/>
              </a:rPr>
              <a:t>THE FLYWHEEL: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More drivers join → Shorter passenger wait times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Better experience → More passengers download app • More passengers → Drivers earn more per hour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Higher earnings → Even more drivers join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Competitors can't catch up once we reach critical mass 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b="1" dirty="0">
                <a:solidFill>
                  <a:srgbClr val="F0F6FC"/>
                </a:solidFill>
                <a:latin typeface="Monaspace Neon"/>
              </a:rPr>
              <a:t>MATH: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Us (500 drivers): 5-minute average wait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Competitor (50 drivers): 30-minute average wait </a:t>
            </a: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• Passengers choose us → Competitor dies </a:t>
            </a:r>
          </a:p>
          <a:p>
            <a:endParaRPr lang="en-US" dirty="0">
              <a:solidFill>
                <a:srgbClr val="F0F6FC"/>
              </a:solidFill>
              <a:latin typeface="Monaspace Neon"/>
            </a:endParaRPr>
          </a:p>
          <a:p>
            <a:r>
              <a:rPr lang="en-US" dirty="0">
                <a:solidFill>
                  <a:srgbClr val="F0F6FC"/>
                </a:solidFill>
                <a:latin typeface="Monaspace Neon"/>
              </a:rPr>
              <a:t>This is how Uber beat Lyft. First to scale wins. </a:t>
            </a:r>
          </a:p>
        </p:txBody>
      </p:sp>
    </p:spTree>
    <p:extLst>
      <p:ext uri="{BB962C8B-B14F-4D97-AF65-F5344CB8AC3E}">
        <p14:creationId xmlns:p14="http://schemas.microsoft.com/office/powerpoint/2010/main" val="2985893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6453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47298"/>
            <a:ext cx="4158734" cy="3117652"/>
          </a:xfrm>
          <a:prstGeom prst="roundRect">
            <a:avLst>
              <a:gd name="adj" fmla="val 1152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07519" y="3417094"/>
            <a:ext cx="32945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GPS Tracking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7519" y="3912632"/>
            <a:ext cx="3619143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location broadcasting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 power consumption design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Cross-platform compatibility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3147298"/>
            <a:ext cx="4158734" cy="3117652"/>
          </a:xfrm>
          <a:prstGeom prst="roundRect">
            <a:avLst>
              <a:gd name="adj" fmla="val 1152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05569" y="3417094"/>
            <a:ext cx="358509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Infrastructure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05569" y="3912632"/>
            <a:ext cx="3619143" cy="169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Cloud-based server architecture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Scalable database systems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 integrations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3147298"/>
            <a:ext cx="4158853" cy="3117652"/>
          </a:xfrm>
          <a:prstGeom prst="roundRect">
            <a:avLst>
              <a:gd name="adj" fmla="val 1152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3619" y="3417094"/>
            <a:ext cx="30547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Mobile Applications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03619" y="3912632"/>
            <a:ext cx="3619262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Passenger-facing app (iOS/Android)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Driver portal with simplified interface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Web-based admin dashboard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1158</Words>
  <Application>Microsoft Office PowerPoint</Application>
  <PresentationFormat>Custom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Arimo</vt:lpstr>
      <vt:lpstr>-apple-system</vt:lpstr>
      <vt:lpstr>Syne Bold</vt:lpstr>
      <vt:lpstr>Monaspace Neon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Proph_NooB</dc:creator>
  <cp:lastModifiedBy>Usman Mohammed</cp:lastModifiedBy>
  <cp:revision>5</cp:revision>
  <dcterms:created xsi:type="dcterms:W3CDTF">2026-02-15T00:22:19Z</dcterms:created>
  <dcterms:modified xsi:type="dcterms:W3CDTF">2026-02-15T09:27:17Z</dcterms:modified>
</cp:coreProperties>
</file>